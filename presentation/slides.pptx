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ndra thakkar" userId="181ff842e26a7025" providerId="LiveId" clId="{611B3266-CD65-4593-A75F-7A5F131451EC}"/>
    <pc:docChg chg="modSld">
      <pc:chgData name="hitendra thakkar" userId="181ff842e26a7025" providerId="LiveId" clId="{611B3266-CD65-4593-A75F-7A5F131451EC}" dt="2026-09-15T14:28:24.963" v="85" actId="20577"/>
      <pc:docMkLst>
        <pc:docMk/>
      </pc:docMkLst>
      <pc:sldChg chg="modSp mod">
        <pc:chgData name="hitendra thakkar" userId="181ff842e26a7025" providerId="LiveId" clId="{611B3266-CD65-4593-A75F-7A5F131451EC}" dt="2026-09-15T11:42:33.503" v="3" actId="1035"/>
        <pc:sldMkLst>
          <pc:docMk/>
          <pc:sldMk cId="0" sldId="258"/>
        </pc:sldMkLst>
        <pc:spChg chg="mod">
          <ac:chgData name="hitendra thakkar" userId="181ff842e26a7025" providerId="LiveId" clId="{611B3266-CD65-4593-A75F-7A5F131451EC}" dt="2026-09-15T11:42:33.503" v="3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hitendra thakkar" userId="181ff842e26a7025" providerId="LiveId" clId="{611B3266-CD65-4593-A75F-7A5F131451EC}" dt="2026-09-15T11:42:29.491" v="2" actId="20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hitendra thakkar" userId="181ff842e26a7025" providerId="LiveId" clId="{611B3266-CD65-4593-A75F-7A5F131451EC}" dt="2026-09-15T14:28:24.963" v="85" actId="20577"/>
        <pc:sldMkLst>
          <pc:docMk/>
          <pc:sldMk cId="0" sldId="263"/>
        </pc:sldMkLst>
        <pc:spChg chg="mod">
          <ac:chgData name="hitendra thakkar" userId="181ff842e26a7025" providerId="LiveId" clId="{611B3266-CD65-4593-A75F-7A5F131451EC}" dt="2026-09-15T14:28:01.836" v="31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hitendra thakkar" userId="181ff842e26a7025" providerId="LiveId" clId="{611B3266-CD65-4593-A75F-7A5F131451EC}" dt="2026-09-15T14:28:13.977" v="57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hitendra thakkar" userId="181ff842e26a7025" providerId="LiveId" clId="{611B3266-CD65-4593-A75F-7A5F131451EC}" dt="2026-09-15T14:28:24.963" v="85" actId="20577"/>
          <ac:spMkLst>
            <pc:docMk/>
            <pc:sldMk cId="0" sldId="263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C3ED3-7DBE-4735-8451-C276F07804B0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A5A78-EAED-48E8-B5D8-E07462E25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88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A5A78-EAED-48E8-B5D8-E07462E2595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753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3FF"/>
                </a:solidFill>
                <a:latin typeface="Consolas"/>
              </a:defRPr>
            </a:pPr>
            <a:r>
              <a:t>⚡ IBM BOB AI HACKATHON 2026  //  TRACK: AI  //  NERC-CIP &amp; IEEE-1547 GROUNDED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Segoe UI"/>
              </a:defRPr>
            </a:pPr>
            <a:r>
              <a:t>GRIDGUARD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3FF"/>
                </a:solidFill>
                <a:latin typeface="Segoe UI"/>
              </a:defRPr>
            </a:pPr>
            <a:r>
              <a:t>Power Outage Prediction &amp; Grid Equipment Failure Advisor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728655" cy="128016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10180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Segoe UI"/>
              </a:defRPr>
            </a:pPr>
            <a:r>
              <a:t>Transforming electric utility operations from reactive catastrophe response into proactive, automated resilience by fusing multi-modal sensor telemetry, spatial weather forecasts, and historical failure records with IBM Bob and watsonx.ai.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6217920" cy="14630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18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  <a:latin typeface="Consolas"/>
              </a:defRPr>
            </a:pPr>
            <a:r>
              <a:t>PROJECT TEAM: GridGuard AI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Harshil Thakkar (Lead) — Full-Stack &amp; System Architect</a:t>
            </a:r>
            <a:br/>
            <a:r>
              <a:t>• Priyal Rathod — AI/ML Risk Modeling &amp; Physics Engine</a:t>
            </a:r>
            <a:br/>
            <a:r>
              <a:t>• Rutvik Jasani — Backend &amp; SCADA Telemetry Gateway</a:t>
            </a:r>
            <a:br/>
            <a:r>
              <a:t>• Hetavi Suhagiya — Frontend UI &amp; Data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846320"/>
            <a:ext cx="4327855" cy="14630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18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4983480"/>
            <a:ext cx="39620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  <a:latin typeface="Consolas"/>
              </a:defRPr>
            </a:pPr>
            <a:r>
              <a:t>CORE TECHNOLOGIES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IBM Bob CLI &amp; Model Context Protocol (MCP)</a:t>
            </a:r>
            <a:br/>
            <a:r>
              <a:t>• IBM watsonx.ai (Granite / Llama-3 Foundation Models)</a:t>
            </a:r>
            <a:br/>
            <a:r>
              <a:t>• Python FastAPI, NumPy, IEEE C57 / IEC 60076 Standards</a:t>
            </a:r>
            <a:br/>
            <a:r>
              <a:t>• React 18, TypeScript, Recharts, SCADA HUD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PROBLEM STATEMENT // THE RELIABILITY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Aging Power Grids Are Blind to Compounding Weather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Traditional calendar maintenance leaves multi-million-dollar transformers vulnerable to unpredicted catastrophic breakdowns.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274320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3333"/>
                </a:solidFill>
                <a:latin typeface="Consolas"/>
              </a:defRPr>
            </a:pPr>
            <a:r>
              <a:t>SCADA GRID DISPATCHERS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Overwhelmed by 500+ alarms/hr during storms</a:t>
            </a:r>
            <a:br/>
            <a:r>
              <a:t>• Current SCADA systems only alert AFTER equipment trips</a:t>
            </a:r>
            <a:br/>
            <a:r>
              <a:t>• Zero forward visibility into 12-72h degradation curves</a:t>
            </a:r>
            <a:br/>
            <a:r>
              <a:t>• Forced to make high-stress decisions without physics root-cause explanations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45920"/>
            <a:ext cx="3429000" cy="274320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AA00"/>
                </a:solidFill>
                <a:latin typeface="Consolas"/>
              </a:defRPr>
            </a:pPr>
            <a:r>
              <a:t>FIELD CREW DIRECTORS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Reliant on calendar schedules (every 12-24 mos)</a:t>
            </a:r>
            <a:br/>
            <a:r>
              <a:t>• Internal insulation decay escalates between visits</a:t>
            </a:r>
            <a:br/>
            <a:r>
              <a:t>• Emergency crews dispatched into impassable flooded roads after failure occurs</a:t>
            </a:r>
            <a:br/>
            <a:r>
              <a:t>• High overtime costs and spare-parts logistics chaos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274320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3FF"/>
                </a:solidFill>
                <a:latin typeface="Consolas"/>
              </a:defRPr>
            </a:pPr>
            <a:r>
              <a:t>CITIZENS &amp; CRITICAL ASSETS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Blackouts sever power to hospitals, water pumps, and telecommunications</a:t>
            </a:r>
            <a:br/>
            <a:r>
              <a:t>• Protracted outages lasting days to weeks</a:t>
            </a:r>
            <a:br/>
            <a:r>
              <a:t>• Severe economic devastation to regional industry</a:t>
            </a:r>
            <a:br/>
            <a:r>
              <a:t>• Public Utility Commission regulatory penalties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17720"/>
            <a:ext cx="2542032" cy="1691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22677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3333"/>
                </a:solidFill>
                <a:latin typeface="Consolas"/>
              </a:defRPr>
            </a:pPr>
            <a:r>
              <a:t>$1M - $2.5M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PER HOUR COST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Direct financial cost of major substation blackout in industrial corridors.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4617720"/>
            <a:ext cx="2542032" cy="1691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4754880"/>
            <a:ext cx="22677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AA00"/>
                </a:solidFill>
                <a:latin typeface="Consolas"/>
              </a:defRPr>
            </a:pPr>
            <a:r>
              <a:t>4 - 18 MONTHS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REPLACEMENT LEAD TIME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Global procurement delay to engineer &amp; deliver a Large Power Transformer.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4617720"/>
            <a:ext cx="2542032" cy="1691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4754880"/>
            <a:ext cx="22677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3FF"/>
                </a:solidFill>
                <a:latin typeface="Consolas"/>
              </a:defRPr>
            </a:pPr>
            <a:r>
              <a:t>70% BUDGET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REACTIVE DRAIN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Utility maintenance expenditure consumed by emergency spot repairs.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4617720"/>
            <a:ext cx="2542032" cy="1691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3416" y="4754880"/>
            <a:ext cx="226771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66"/>
                </a:solidFill>
                <a:latin typeface="Consolas"/>
              </a:defRPr>
            </a:pPr>
            <a:r>
              <a:t>500+ ALARMS</a:t>
            </a:r>
          </a:p>
          <a:p>
            <a:pPr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ALARM FLOOD / HR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Nuisance false-positive alarm triggers disorienting control room operators.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SOLUTION OVERVIEW // PHYSICS-GROUNDED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GridGuard AI: Closed-Loop Predictive Grid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Synthesizing IoT telemetry, weather forecasts, and historical logs into automated crew pre-positioning before outages strike.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36776"/>
            <a:ext cx="4572000" cy="46634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114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3FF"/>
                </a:solidFill>
                <a:latin typeface="Consolas"/>
              </a:defRPr>
            </a:pPr>
            <a:r>
              <a:rPr sz="1200" dirty="0"/>
              <a:t>WHAT WE BUILT</a:t>
            </a:r>
          </a:p>
          <a:p>
            <a:br>
              <a:rPr sz="1200" dirty="0">
                <a:solidFill>
                  <a:srgbClr val="FF0000"/>
                </a:solidFill>
              </a:rPr>
            </a:br>
            <a:r>
              <a:rPr sz="1200" dirty="0" err="1">
                <a:solidFill>
                  <a:schemeClr val="bg1"/>
                </a:solidFill>
              </a:rPr>
              <a:t>GridGuard</a:t>
            </a:r>
            <a:r>
              <a:rPr sz="1200" dirty="0">
                <a:solidFill>
                  <a:schemeClr val="bg1"/>
                </a:solidFill>
              </a:rPr>
              <a:t> AI transforms electric utility operations from reactive catastrophe response into proactive, automated resilience.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• Physics-Informed Anomaly Engine: Evaluates equipment health against IEEE C57.104 and IEC 60076 standards.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• Dynamic Weather Risk Multiplier: Correlates incoming atmospheric heatwaves and convective storm vectors with live thermal thresholds.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• Downstream Criticality Prioritization: Ranks substations by customer impact and hospital/infrastructure dependence.</a:t>
            </a:r>
            <a:br>
              <a:rPr sz="1200" dirty="0">
                <a:solidFill>
                  <a:schemeClr val="bg1"/>
                </a:solidFill>
              </a:rPr>
            </a:br>
            <a:br>
              <a:rPr sz="1200" dirty="0">
                <a:solidFill>
                  <a:schemeClr val="bg1"/>
                </a:solidFill>
              </a:rPr>
            </a:br>
            <a:r>
              <a:rPr sz="1200" dirty="0">
                <a:solidFill>
                  <a:schemeClr val="bg1"/>
                </a:solidFill>
              </a:rPr>
              <a:t>• Automated Crew Staging: Pre-positions field repair fleets with specific replacement hardware prior to storm landfall.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645920"/>
            <a:ext cx="5882335" cy="105156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1755648"/>
            <a:ext cx="551657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F3FF"/>
                </a:solidFill>
                <a:latin typeface="Consolas"/>
              </a:defRPr>
            </a:pPr>
            <a:r>
              <a:t>01 // MULTI-MODAL DATA FUSION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Ingests 4 IoT telemetry streams (Temperature, Vibration, Partial Discharge, DGA Oil Quality) + forward spatial weather models + historical maintenance dossiers.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2843784"/>
            <a:ext cx="5882335" cy="105156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2953512"/>
            <a:ext cx="551657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FF66"/>
                </a:solidFill>
                <a:latin typeface="Consolas"/>
              </a:defRPr>
            </a:pPr>
            <a:r>
              <a:t>02 // PHYSICS-GROUNDED FAILURE MODEL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Computes composite risk: 0.35 * Sensor + 0.30 * Weather + 0.20 * History + 0.15 * Age. Estimates remaining safe operating hours before thermal/dielectric runaway.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041648"/>
            <a:ext cx="5882335" cy="105156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4151376"/>
            <a:ext cx="551657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AA00"/>
                </a:solidFill>
                <a:latin typeface="Consolas"/>
              </a:defRPr>
            </a:pPr>
            <a:r>
              <a:t>03 // GRID IMPACT SEVERITY RANKING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Scales failure probability by downstream customer density and hospital/critical node weighting: Severity = Probability * Grid Impact * Weather Factor.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5239512"/>
            <a:ext cx="5882335" cy="105156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5349240"/>
            <a:ext cx="5516575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F3333"/>
                </a:solidFill>
                <a:latin typeface="Consolas"/>
              </a:defRPr>
            </a:pPr>
            <a:r>
              <a:t>04 // PRESCRIPTIVE MAINTENANCE &amp; CREW STAGING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Generates concrete engineering work orders (DGA degassing, bushing replacement) and automatically stages emergency strike teams in advance.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TECHNICAL ARCHITECTURE // MICROSERVICES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High-Throughput, Resilient Multi-Tier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Stateless analytical microservices coupled with sub-second SCADA HUD telemetry rendering.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32918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22128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  <a:latin typeface="Consolas"/>
              </a:defRPr>
            </a:pPr>
            <a:r>
              <a:t>TIER 1: INGESTION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Fusion Engine</a:t>
            </a:r>
          </a:p>
          <a:p>
            <a:pPr>
              <a:defRPr sz="950">
                <a:solidFill>
                  <a:srgbClr val="00F3FF"/>
                </a:solidFill>
                <a:latin typeface="Consolas"/>
              </a:defRPr>
            </a:pPr>
            <a:r>
              <a:t>data_fusion.py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Real-time IoT sensor bus parser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48h spatial weather API vectorizer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Historical MTBF incident cross-ref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Multi-source feature harmonization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32918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1024" y="1810512"/>
            <a:ext cx="22128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Consolas"/>
              </a:defRPr>
            </a:pPr>
            <a:r>
              <a:t>TIER 2: AI ANALYTICS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FastAPI AI Engine</a:t>
            </a:r>
          </a:p>
          <a:p>
            <a:pPr>
              <a:defRPr sz="950">
                <a:solidFill>
                  <a:srgbClr val="00F3FF"/>
                </a:solidFill>
                <a:latin typeface="Consolas"/>
              </a:defRPr>
            </a:pPr>
            <a:r>
              <a:t>Port 8001 / REST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IEEE C57 &amp; IEC 60076 thresholding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Vectorized multi-factor risk scoring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Downstream severity ranking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Sub-50ms inference latency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32918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5936" y="1810512"/>
            <a:ext cx="22128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  <a:latin typeface="Consolas"/>
              </a:defRPr>
            </a:pPr>
            <a:r>
              <a:t>TIER 3: PERSISTENCE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Backend API Gateway</a:t>
            </a:r>
          </a:p>
          <a:p>
            <a:pPr>
              <a:defRPr sz="950">
                <a:solidFill>
                  <a:srgbClr val="00F3FF"/>
                </a:solidFill>
                <a:latin typeface="Consolas"/>
              </a:defRPr>
            </a:pPr>
            <a:r>
              <a:t>Port 5000 / REST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Node.js Express 4 REST routing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PostgreSQL &amp; TimescaleDB hypertables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Resilient offline fallback mock engine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NERC-CIP audit trail buffering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42032" cy="32918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78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0848" y="1810512"/>
            <a:ext cx="2212848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852FF"/>
                </a:solidFill>
                <a:latin typeface="Consolas"/>
              </a:defRPr>
            </a:pPr>
            <a:r>
              <a:t>TIER 4: SCADA CONSOLE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React 18 + Vite HUD</a:t>
            </a:r>
          </a:p>
          <a:p>
            <a:pPr>
              <a:defRPr sz="950">
                <a:solidFill>
                  <a:srgbClr val="00F3FF"/>
                </a:solidFill>
                <a:latin typeface="Consolas"/>
              </a:defRPr>
            </a:pPr>
            <a:r>
              <a:t>Port 3000 / Web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60 FPS HTML5 canvas electric arcs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Multi-sensor Recharts trend lines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12 substation geospatial grid map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Level 1/2/3 clearance studio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230368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  <a:latin typeface="Consolas"/>
              </a:defRPr>
            </a:pPr>
            <a:r>
              <a:t>KEY ARCHITECTURAL HIGHLIGHTS</a:t>
            </a:r>
          </a:p>
          <a:p>
            <a:pPr>
              <a:defRPr sz="1050">
                <a:solidFill>
                  <a:srgbClr val="FFFFFF"/>
                </a:solidFill>
                <a:latin typeface="Segoe UI"/>
              </a:defRPr>
            </a:pPr>
            <a:r>
              <a:t>⚡ Zero-Downtime Evaluation: Built-in resilient fallback engine ensures full 12-substation interactivity even if local PostgreSQL is offline.</a:t>
            </a:r>
            <a:br/>
            <a:r>
              <a:t>🔒 NERC-CIP Compliance: Role-based operational clearance (L1 Monitor, L2 Dispatch, L3 Chief), simulated hardware 2FA, and out-of-band OTP recovery.</a:t>
            </a:r>
            <a:br/>
            <a:r>
              <a:t>🚀 Cloud Ready: Stateless microservices architecture deployable onto IBM Cloud Code Engine or Red Hat OpenShift with horizontal auto-scaling.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PRODUCT SHOWCASE // LIVE SCADA CONTROL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Operational Command Center &amp; Asset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Real-time visibility across 12 high-voltage transmission nodes with interactive telemetry and crew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3891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ridguard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035040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645920"/>
            <a:ext cx="4282135" cy="137160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42632" y="1755648"/>
            <a:ext cx="395295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  <a:latin typeface="Consolas"/>
              </a:defRPr>
            </a:pPr>
            <a:r>
              <a:t>COMMON GRID DASHBOARD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12 High-Voltage Nodes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Geospatial SCADA map color-coded by real-time risk severity. Criticality table automatically sorts substations by failure probability and downline customer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3154680"/>
            <a:ext cx="4282135" cy="137160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42632" y="3264408"/>
            <a:ext cx="395295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Consolas"/>
              </a:defRPr>
            </a:pPr>
            <a:r>
              <a:t>ASSET DIGITAL TWIN &amp; TRENDS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Multi-Sensor Recharts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Small-multiple time-series plots for Top-Oil Temperature, Vibration, Partial Discharge, and DGA Oil Quality. Pinpoints critical failure window (&lt; 14 hours).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4663440"/>
            <a:ext cx="4282135" cy="137160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42632" y="4773168"/>
            <a:ext cx="3952951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A00"/>
                </a:solidFill>
                <a:latin typeface="Consolas"/>
              </a:defRPr>
            </a:pPr>
            <a:r>
              <a:t>OPERATOR PROFILE &amp; ENCLAVE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Clearance Studio (L1 / L2 / L3)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Role switcher for live hackathon demos. Rotates security keys, verifies out-of-band email OTP reset codes, and records an immutable NERC-CIP audit trail.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COGNITIVE ARCHITECTURE // IBM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Where and How IBM Bob &amp; watsonx Are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Combining IBM Bob conversational orchestration with watsonx.ai foundation models via Model Context Protocol.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3FF"/>
                </a:solidFill>
                <a:latin typeface="Consolas"/>
              </a:defRPr>
            </a:pPr>
            <a:r>
              <a:t>IBM BOB CLI &amp; AGENT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Conversational SCADA Advisor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Acts as the 24/7 intelligent control room co-pilot. Grid dispatchers interrogate complex anomalies using natural language queries ('Why is Substation Alpha at critical risk?') and receive instant, context-aware engineering diagnoses.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21031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78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81051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852FF"/>
                </a:solidFill>
                <a:latin typeface="Consolas"/>
              </a:defRPr>
            </a:pPr>
            <a:r>
              <a:t>MODEL CONTEXT PROTOCOL (MCP)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Standardized SCADA Tool Bridge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Connects IBM Bob directly to live GridGuard backend REST endpoints. Exposes real-time tools to fetch asset telemetry, query weather risk multipliers, compute IEEE failure probabilities, and trigger emergency crew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F66"/>
                </a:solidFill>
                <a:latin typeface="Consolas"/>
              </a:defRPr>
            </a:pPr>
            <a:r>
              <a:t>WATSONX.AI FOUNDATION MODELS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Enterprise Playbook Generation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Leverages IBM Granite and Llama-3 models to synthesize multi-sensor telemetry into structured, IEEE-compliant mitigation playbooks, load-shedding schedules, and regulatory NERC-CIP incident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931920"/>
            <a:ext cx="5212080" cy="21031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0975" y="4096512"/>
            <a:ext cx="4846320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AA00"/>
                </a:solidFill>
                <a:latin typeface="Consolas"/>
              </a:defRPr>
            </a:pPr>
            <a:r>
              <a:t>IBM CLOUD CODE ENGINE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Serverless Elastic Scaling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Runs containerized AI inference microservices on managed serverless infrastructure. Auto-scales computing instances instantaneously when severe weather systems compound grid-wide sensor ingestion loads.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172200"/>
            <a:ext cx="10728655" cy="41148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621792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0F3FF"/>
                </a:solidFill>
                <a:latin typeface="Consolas"/>
              </a:defRPr>
            </a:pPr>
            <a:r>
              <a:t>[DISPATCHER PROMPT] ➔ [IBM BOB AGENT] ➔ [MCP TOOL CALL] ➔ [SCADA TELEMETRY + WATSONX.AI] ➔ [ACTIONABLE MITIGATION PLAYBOOK]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STRATEGIC VALUE // COMMERCIAL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Projected Business Impact &amp; Beyond the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Delivering massive operational savings and a clear trajectory toward production utility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6459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632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F66"/>
                </a:solidFill>
                <a:latin typeface="Consolas"/>
              </a:defRPr>
            </a:pPr>
            <a:r>
              <a:t>42% REDUCTION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UNPLANNED OUTAGE DURATION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Compresses utility SAIDI/SAIFI outage indices via predictive strike crew staging.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645920"/>
            <a:ext cx="3429000" cy="16459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2856" y="1810512"/>
            <a:ext cx="30632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3FF"/>
                </a:solidFill>
                <a:latin typeface="Consolas"/>
              </a:defRPr>
            </a:pPr>
            <a:r>
              <a:t>$85M / YEAR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REGIONAL COST AVOIDANCE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Savings for a standard 2M-meter utility by eliminating catastrophic transformer replacements.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645920"/>
            <a:ext cx="3429000" cy="164592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810512"/>
            <a:ext cx="306324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AA00"/>
                </a:solidFill>
                <a:latin typeface="Consolas"/>
              </a:defRPr>
            </a:pPr>
            <a:r>
              <a:t>12,000+ HOURS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FIELD LABOR OPTIMIZATION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Eliminates wasteful calendar-based manual inspections with continuous condition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3429000" cy="2834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306324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3FF"/>
                </a:solidFill>
                <a:latin typeface="Consolas"/>
              </a:defRPr>
            </a:pPr>
            <a:r>
              <a:t>PHASE 1 (Q3-Q4 2026)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Physical SCADA &amp; Hardware Integration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Connect to physical substation RTUs via DNP3 &amp; IEC 61850 protocols.</a:t>
            </a:r>
            <a:br/>
            <a:r>
              <a:t>• Deploy edge inference gateways onto substation control house hardware.</a:t>
            </a:r>
            <a:br/>
            <a:r>
              <a:t>• Ingest live optical fiber partial discharge &amp; continuous online DGA monitors.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3474720"/>
            <a:ext cx="3429000" cy="2834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62856" y="3639312"/>
            <a:ext cx="306324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66"/>
                </a:solidFill>
                <a:latin typeface="Consolas"/>
              </a:defRPr>
            </a:pPr>
            <a:r>
              <a:t>PHASE 2 (Q1-Q2 2027)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Autonomous Drone &amp; Robotics Dispatch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Automated drone inspection launch triggers for thermal infrared substation scans.</a:t>
            </a:r>
            <a:br/>
            <a:r>
              <a:t>• Real-time road flood &amp; downed-tree satellite routing for pre-positioned fleets.</a:t>
            </a:r>
            <a:br/>
            <a:r>
              <a:t>• Closed-loop automated breaker tripping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3474720"/>
            <a:ext cx="3429000" cy="283464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78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3639312"/>
            <a:ext cx="3063240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852FF"/>
                </a:solidFill>
                <a:latin typeface="Consolas"/>
              </a:defRPr>
            </a:pPr>
            <a:r>
              <a:t>PHASE 3 (2027+)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Regional RTO Federated Intelligence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• Multi-utility threat intelligence sharing across ISO / RTO interconnections.</a:t>
            </a:r>
            <a:br/>
            <a:r>
              <a:t>• Cross-border cascading blackout mitigation with watsonx distributed models.</a:t>
            </a:r>
            <a:br/>
            <a:r>
              <a:t>• Commercial SaaS deployment across North American &amp; European utilities.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27432"/>
          </a:xfrm>
          <a:prstGeom prst="rect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3FF"/>
                </a:solidFill>
                <a:latin typeface="Consolas"/>
              </a:defRPr>
            </a:pPr>
            <a:r>
              <a:t>SUBMISSION SUMMARY // TEAM GRIDGUARD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Engineering the Future of Resilient Energy Grids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complete, production-grade AI platform built for the IBM Bob AI Hackathon.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42032" cy="292608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810512"/>
            <a:ext cx="2212848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Harshil Thakkar</a:t>
            </a:r>
          </a:p>
          <a:p>
            <a:pPr>
              <a:defRPr sz="950" b="1">
                <a:solidFill>
                  <a:srgbClr val="00F3FF"/>
                </a:solidFill>
                <a:latin typeface="Consolas"/>
              </a:defRPr>
            </a:pPr>
            <a:r>
              <a:t>TEAM LEAD &amp; FULL-STACK ARCHITECT</a:t>
            </a:r>
          </a:p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t>d25dit083@charusat.edu.in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Overall platform architecture</a:t>
            </a:r>
            <a:br/>
            <a:r>
              <a:t>• React SCADA HUD &amp; canvas</a:t>
            </a:r>
            <a:br/>
            <a:r>
              <a:t>• FastApi / Express integration</a:t>
            </a:r>
            <a:br/>
            <a:r>
              <a:t>• End-to-end evaluation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292608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1024" y="1810512"/>
            <a:ext cx="221284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lang="en-IN" dirty="0" err="1"/>
              <a:t>Hetavi</a:t>
            </a:r>
            <a:r>
              <a:rPr lang="en-IN" dirty="0"/>
              <a:t> </a:t>
            </a:r>
            <a:r>
              <a:rPr lang="en-IN" dirty="0" err="1"/>
              <a:t>Suhagiya</a:t>
            </a:r>
            <a:endParaRPr dirty="0"/>
          </a:p>
          <a:p>
            <a:pPr>
              <a:defRPr sz="950" b="1">
                <a:solidFill>
                  <a:srgbClr val="00FF66"/>
                </a:solidFill>
                <a:latin typeface="Consolas"/>
              </a:defRPr>
            </a:pPr>
            <a:r>
              <a:rPr dirty="0"/>
              <a:t>AI/ML RISK ENGINEER</a:t>
            </a:r>
          </a:p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rPr dirty="0"/>
              <a:t>24dce119@charusat.edu.in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rPr dirty="0"/>
              <a:t>• IEEE C57 / IEC 60076 scoring</a:t>
            </a:r>
            <a:br>
              <a:rPr dirty="0"/>
            </a:br>
            <a:r>
              <a:rPr dirty="0"/>
              <a:t>• Multi-modal data fusion pipeline</a:t>
            </a:r>
            <a:br>
              <a:rPr dirty="0"/>
            </a:br>
            <a:r>
              <a:rPr dirty="0"/>
              <a:t>• Weather compounding model</a:t>
            </a:r>
            <a:br>
              <a:rPr dirty="0"/>
            </a:br>
            <a:r>
              <a:rPr dirty="0"/>
              <a:t>• Time-to-failure forecasting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292608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45936" y="1810512"/>
            <a:ext cx="221284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Priyal Rathod</a:t>
            </a:r>
            <a:endParaRPr dirty="0"/>
          </a:p>
          <a:p>
            <a:pPr>
              <a:defRPr sz="950" b="1">
                <a:solidFill>
                  <a:srgbClr val="FFAA00"/>
                </a:solidFill>
                <a:latin typeface="Consolas"/>
              </a:defRPr>
            </a:pPr>
            <a:r>
              <a:rPr dirty="0"/>
              <a:t>BACKEND &amp; SCADA GATEWAY</a:t>
            </a:r>
          </a:p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rPr dirty="0"/>
              <a:t>24dce048@charusat.edu.in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rPr dirty="0"/>
              <a:t>• Node.js REST API gateway</a:t>
            </a:r>
            <a:br>
              <a:rPr dirty="0"/>
            </a:br>
            <a:r>
              <a:rPr dirty="0"/>
              <a:t>• PostgreSQL / </a:t>
            </a:r>
            <a:r>
              <a:rPr dirty="0" err="1"/>
              <a:t>TimescaleDB</a:t>
            </a:r>
            <a:r>
              <a:rPr dirty="0"/>
              <a:t> schema</a:t>
            </a:r>
            <a:br>
              <a:rPr dirty="0"/>
            </a:br>
            <a:r>
              <a:rPr dirty="0"/>
              <a:t>• Resilient fallback engine</a:t>
            </a:r>
            <a:br>
              <a:rPr dirty="0"/>
            </a:br>
            <a:r>
              <a:rPr dirty="0"/>
              <a:t>• NERC-CIP audit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645920"/>
            <a:ext cx="2542032" cy="292608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785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0848" y="1810512"/>
            <a:ext cx="221284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lang="en-IN" dirty="0"/>
              <a:t>Rutvik Jasani</a:t>
            </a:r>
            <a:endParaRPr dirty="0"/>
          </a:p>
          <a:p>
            <a:pPr>
              <a:defRPr sz="950" b="1">
                <a:solidFill>
                  <a:srgbClr val="7852FF"/>
                </a:solidFill>
                <a:latin typeface="Consolas"/>
              </a:defRPr>
            </a:pPr>
            <a:r>
              <a:rPr dirty="0"/>
              <a:t>FRONTEND &amp; DATA VIZ</a:t>
            </a:r>
          </a:p>
          <a:p>
            <a:pPr>
              <a:defRPr sz="850">
                <a:solidFill>
                  <a:srgbClr val="64748B"/>
                </a:solidFill>
                <a:latin typeface="Consolas"/>
              </a:defRPr>
            </a:pPr>
            <a:r>
              <a:rPr dirty="0"/>
              <a:t>24dce140@charusat.edu.in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rPr dirty="0"/>
              <a:t>• Recharts sensor telemetry</a:t>
            </a:r>
            <a:br>
              <a:rPr dirty="0"/>
            </a:br>
            <a:r>
              <a:rPr dirty="0"/>
              <a:t>• Geospatial substation map</a:t>
            </a:r>
            <a:br>
              <a:rPr dirty="0"/>
            </a:br>
            <a:r>
              <a:rPr dirty="0"/>
              <a:t>• Operator clearance studio</a:t>
            </a:r>
            <a:br>
              <a:rPr dirty="0"/>
            </a:br>
            <a:r>
              <a:rPr dirty="0"/>
              <a:t>• UI design tokens &amp; accessibility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728655" cy="1508760"/>
          </a:xfrm>
          <a:prstGeom prst="roundRect">
            <a:avLst/>
          </a:prstGeom>
          <a:solidFill>
            <a:srgbClr val="081426"/>
          </a:solidFill>
          <a:ln w="19050"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1018001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3FF"/>
                </a:solidFill>
                <a:latin typeface="Consolas"/>
              </a:defRPr>
            </a:pPr>
            <a:r>
              <a:t>⚡ SUBMISSION ARTIFACTS &amp; LINKS</a:t>
            </a:r>
          </a:p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• Source Code: github.com/harshil5506/bob-ai-hackathon-GridGaurdAI</a:t>
            </a:r>
            <a:br/>
            <a:r>
              <a:t>• Comprehensive Documentation: docs/problem-statement.md | docs/solution-overview.md | docs/architecture.md | docs/setup-guide.md</a:t>
            </a:r>
            <a:br/>
            <a:r>
              <a:t>• Live SCADA Console: http://localhost:3000  (Pre-loaded 1-Click Chief Controller Login)</a:t>
            </a:r>
            <a:br/>
            <a:r>
              <a:t>• Mission: Protecting the critical electric power that powers modern civilization.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1663</Words>
  <Application>Microsoft Office PowerPoint</Application>
  <PresentationFormat>Widescreen</PresentationFormat>
  <Paragraphs>146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hitendra thakkar</cp:lastModifiedBy>
  <cp:revision>1</cp:revision>
  <dcterms:created xsi:type="dcterms:W3CDTF">2013-01-27T09:14:16Z</dcterms:created>
  <dcterms:modified xsi:type="dcterms:W3CDTF">2026-09-15T14:28:31Z</dcterms:modified>
  <cp:category/>
</cp:coreProperties>
</file>